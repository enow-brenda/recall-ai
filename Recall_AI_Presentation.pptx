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958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your-demo-lin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your-email@example.com" TargetMode="External"/><Relationship Id="rId4" Type="http://schemas.openxmlformats.org/officeDocument/2006/relationships/hyperlink" Target="https://github.com/your-username/recall-ai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13148" y="1499982"/>
            <a:ext cx="118334" cy="27358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4796566" y="1411468"/>
            <a:ext cx="118334" cy="45061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4979984" y="1314907"/>
            <a:ext cx="118334" cy="64373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5163402" y="1314907"/>
            <a:ext cx="118334" cy="64373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5346820" y="1411468"/>
            <a:ext cx="118334" cy="45061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5530237" y="1499982"/>
            <a:ext cx="118334" cy="27358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47004" y="117957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-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inbox remembers. You don't have to.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0" y="370332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chat-based semantic memory layer for your Gmail inbox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73452" y="4434840"/>
            <a:ext cx="384048" cy="276515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73452" y="4434840"/>
            <a:ext cx="192024" cy="171439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2665476" y="4434840"/>
            <a:ext cx="192024" cy="171439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39596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your inbox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9452" y="4434840"/>
            <a:ext cx="253472" cy="253472"/>
          </a:xfrm>
          <a:prstGeom prst="ellipse">
            <a:avLst/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41952" y="4617340"/>
            <a:ext cx="122895" cy="122895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25596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what matters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7164" y="4416552"/>
            <a:ext cx="420624" cy="413309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11596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naturally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04421" y="4434840"/>
            <a:ext cx="238110" cy="238110"/>
          </a:xfrm>
          <a:prstGeom prst="ellipse">
            <a:avLst/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62176" y="4534846"/>
            <a:ext cx="322600" cy="211226"/>
          </a:xfrm>
          <a:prstGeom prst="roundRect">
            <a:avLst>
              <a:gd name="adj" fmla="val 10909"/>
            </a:avLst>
          </a:prstGeom>
          <a:solidFill>
            <a:srgbClr val="EA580C"/>
          </a:solidFill>
          <a:ln/>
        </p:spPr>
      </p:sp>
      <p:sp>
        <p:nvSpPr>
          <p:cNvPr id="23" name="Shape 21"/>
          <p:cNvSpPr/>
          <p:nvPr/>
        </p:nvSpPr>
        <p:spPr>
          <a:xfrm>
            <a:off x="9500433" y="4611656"/>
            <a:ext cx="46086" cy="4608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97596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&amp; private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Enow Eweh Mac Brenda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40572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623944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07315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790687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874059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2416" y="237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743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05156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you need is buried in your inbox.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 rot="1320000">
            <a:off x="320040" y="1737360"/>
            <a:ext cx="548640" cy="395021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1080000">
            <a:off x="3474720" y="1783080"/>
            <a:ext cx="502920" cy="362102"/>
          </a:xfrm>
          <a:prstGeom prst="roundRect">
            <a:avLst>
              <a:gd name="adj" fmla="val 126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900000">
            <a:off x="3520440" y="3886200"/>
            <a:ext cx="4572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-720000">
            <a:off x="274320" y="4023360"/>
            <a:ext cx="4572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87452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DEEE7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194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1089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received daily — and the important ones disappear into the noise.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1874520"/>
            <a:ext cx="7498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Invoices, contracts, signed documents, meeting links, and decisions all pass through email — but finding them later means scrolling through hundreds or thousands of messages.</a:t>
            </a:r>
            <a:endParaRPr lang="en-US" sz="130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keyword search matches exact words, not intent. You remember something exists, but can't locate it.</a:t>
            </a:r>
            <a:endParaRPr lang="en-US" sz="130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locked inside PDF and DOCX attachments remain invisible to standard email search.</a:t>
            </a:r>
            <a:endParaRPr lang="en-US" sz="1300" dirty="0"/>
          </a:p>
          <a:p>
            <a:pPr marL="177800" indent="-177800" algn="l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are wasted every week searching for information you know you received.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709160"/>
            <a:ext cx="82296" cy="10972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7091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isn't missing information — it's that we can't recall it.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40572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623944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07315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790687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874059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2416" y="237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743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05156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inbox a question. Get an answer with proof.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1673352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inbox replacement — a lightweight, chat-first semantic search layer that sits on top of Gmail, powered by AI.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2596896"/>
            <a:ext cx="411480" cy="365760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244144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Ask, in plain language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734056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grounded answer with evidence for real questions.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rot="-1500000">
            <a:off x="630936" y="3648456"/>
            <a:ext cx="283464" cy="164592"/>
          </a:xfrm>
          <a:prstGeom prst="roundRect">
            <a:avLst>
              <a:gd name="adj" fmla="val 50000"/>
            </a:avLst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1500000">
            <a:off x="758952" y="3758184"/>
            <a:ext cx="283464" cy="164592"/>
          </a:xfrm>
          <a:prstGeom prst="roundRect">
            <a:avLst>
              <a:gd name="adj" fmla="val 50000"/>
            </a:avLst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346557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is proof-backed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75818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cards deep-link to the exact Gmail message.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57200" y="4379976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" y="4645152"/>
            <a:ext cx="263347" cy="365760"/>
          </a:xfrm>
          <a:prstGeom prst="snip1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490" y="4769510"/>
            <a:ext cx="168542" cy="2194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751490" y="4835347"/>
            <a:ext cx="168542" cy="2194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Shape 23"/>
          <p:cNvSpPr/>
          <p:nvPr/>
        </p:nvSpPr>
        <p:spPr>
          <a:xfrm>
            <a:off x="751490" y="4901184"/>
            <a:ext cx="105339" cy="2194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43000" y="448970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spans everything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78231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Bodies, subjects, PDF/DOCX attachments, and links.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457200" y="5404104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7862" y="5669280"/>
            <a:ext cx="226771" cy="226771"/>
          </a:xfrm>
          <a:prstGeom prst="ellipse">
            <a:avLst/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7629" y="5764524"/>
            <a:ext cx="307238" cy="201168"/>
          </a:xfrm>
          <a:prstGeom prst="roundRect">
            <a:avLst>
              <a:gd name="adj" fmla="val 10909"/>
            </a:avLst>
          </a:prstGeom>
          <a:solidFill>
            <a:srgbClr val="EA580C"/>
          </a:solidFill>
          <a:ln/>
        </p:spPr>
      </p:sp>
      <p:sp>
        <p:nvSpPr>
          <p:cNvPr id="31" name="Shape 29"/>
          <p:cNvSpPr/>
          <p:nvPr/>
        </p:nvSpPr>
        <p:spPr>
          <a:xfrm>
            <a:off x="819302" y="5837676"/>
            <a:ext cx="43891" cy="4389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43000" y="551383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design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580644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matches found means Recall says so — never fabricated.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309360" y="2331720"/>
            <a:ext cx="5422392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2331720"/>
            <a:ext cx="5422392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2487168"/>
            <a:ext cx="5422392" cy="1554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6437376" y="244144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Shape 36"/>
          <p:cNvSpPr/>
          <p:nvPr/>
        </p:nvSpPr>
        <p:spPr>
          <a:xfrm>
            <a:off x="6620256" y="2441448"/>
            <a:ext cx="91440" cy="914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39" name="Shape 37"/>
          <p:cNvSpPr/>
          <p:nvPr/>
        </p:nvSpPr>
        <p:spPr>
          <a:xfrm>
            <a:off x="6803136" y="244144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14432" y="2437278"/>
            <a:ext cx="22591" cy="52231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49448" y="2420380"/>
            <a:ext cx="22591" cy="86027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84464" y="2401946"/>
            <a:ext cx="22591" cy="12289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19480" y="2401946"/>
            <a:ext cx="22591" cy="12289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4" name="Shape 42"/>
          <p:cNvSpPr/>
          <p:nvPr/>
        </p:nvSpPr>
        <p:spPr>
          <a:xfrm>
            <a:off x="10454497" y="2420380"/>
            <a:ext cx="22591" cy="86027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5" name="Shape 43"/>
          <p:cNvSpPr/>
          <p:nvPr/>
        </p:nvSpPr>
        <p:spPr>
          <a:xfrm>
            <a:off x="10489513" y="2437278"/>
            <a:ext cx="22591" cy="52231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634472" y="2331720"/>
            <a:ext cx="23774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630" dirty="0"/>
          </a:p>
        </p:txBody>
      </p:sp>
      <p:sp>
        <p:nvSpPr>
          <p:cNvPr id="47" name="Shape 45"/>
          <p:cNvSpPr/>
          <p:nvPr/>
        </p:nvSpPr>
        <p:spPr>
          <a:xfrm>
            <a:off x="8358165" y="2770632"/>
            <a:ext cx="3144987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495325" y="2770632"/>
            <a:ext cx="2870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the link they sent for that meeting?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537960" y="3392424"/>
            <a:ext cx="4663257" cy="2395728"/>
          </a:xfrm>
          <a:prstGeom prst="roundRect">
            <a:avLst>
              <a:gd name="adj" fmla="val 4580"/>
            </a:avLst>
          </a:prstGeom>
          <a:solidFill>
            <a:srgbClr val="FDEEE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693408" y="3502152"/>
            <a:ext cx="40231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the Zoom link for the design review is in the Sept 9 email from Amara.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693408" y="5404104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693408" y="5404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Gmail • Sept 9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40572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623944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07315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790687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874059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2416" y="237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743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05156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Recall for?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19456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DEEE7"/>
          </a:solidFill>
          <a:ln/>
        </p:spPr>
      </p:sp>
      <p:sp>
        <p:nvSpPr>
          <p:cNvPr id="13" name="Shape 11"/>
          <p:cNvSpPr/>
          <p:nvPr/>
        </p:nvSpPr>
        <p:spPr>
          <a:xfrm>
            <a:off x="879653" y="2423160"/>
            <a:ext cx="252374" cy="13716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4" name="Shape 12"/>
          <p:cNvSpPr/>
          <p:nvPr/>
        </p:nvSpPr>
        <p:spPr>
          <a:xfrm>
            <a:off x="948233" y="2286000"/>
            <a:ext cx="115214" cy="11521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463040" y="2176272"/>
            <a:ext cx="4174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Freelancers &amp; knowledge workers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83464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invoices, and client communications across many threads.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7356" y="192024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51676" y="219456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DEEE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99809" y="2423160"/>
            <a:ext cx="252374" cy="13716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0" name="Shape 18"/>
          <p:cNvSpPr/>
          <p:nvPr/>
        </p:nvSpPr>
        <p:spPr>
          <a:xfrm>
            <a:off x="6768389" y="2286000"/>
            <a:ext cx="115214" cy="11521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83196" y="2176272"/>
            <a:ext cx="4174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whose life info lives in email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51676" y="283464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itineraries, legal leases, studio invoices, meeting links.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2062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DEEE7"/>
          </a:solidFill>
          <a:ln/>
        </p:spPr>
      </p:sp>
      <p:sp>
        <p:nvSpPr>
          <p:cNvPr id="25" name="Shape 23"/>
          <p:cNvSpPr/>
          <p:nvPr/>
        </p:nvSpPr>
        <p:spPr>
          <a:xfrm>
            <a:off x="879653" y="4434840"/>
            <a:ext cx="252374" cy="13716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6" name="Shape 24"/>
          <p:cNvSpPr/>
          <p:nvPr/>
        </p:nvSpPr>
        <p:spPr>
          <a:xfrm>
            <a:off x="948233" y="4297680"/>
            <a:ext cx="115214" cy="11521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463040" y="4187952"/>
            <a:ext cx="4174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Non-technical users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84632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chat-first interface (like ChatGPT) that keeps AI complexity behind the scenes.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77356" y="393192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51676" y="420624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DEEE7"/>
          </a:solidFill>
          <a:ln/>
        </p:spPr>
      </p:sp>
      <p:sp>
        <p:nvSpPr>
          <p:cNvPr id="31" name="Shape 29"/>
          <p:cNvSpPr/>
          <p:nvPr/>
        </p:nvSpPr>
        <p:spPr>
          <a:xfrm>
            <a:off x="6699809" y="4434840"/>
            <a:ext cx="252374" cy="13716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2" name="Shape 30"/>
          <p:cNvSpPr/>
          <p:nvPr/>
        </p:nvSpPr>
        <p:spPr>
          <a:xfrm>
            <a:off x="6768389" y="4297680"/>
            <a:ext cx="115214" cy="11521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83196" y="4187952"/>
            <a:ext cx="4174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underserved by keyword search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551676" y="4846320"/>
            <a:ext cx="4905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remember something exists but can't find it with exact terms.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580644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FDEEE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users.   </a:t>
            </a: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</a:t>
            </a: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Slack, SMS — one search across everything.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40572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623944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07315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790687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874059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2416" y="237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743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05156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Recall does for you today.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868680" y="1691640"/>
            <a:ext cx="193121" cy="193121"/>
          </a:xfrm>
          <a:prstGeom prst="ellipse">
            <a:avLst/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7727" y="1830687"/>
            <a:ext cx="93635" cy="93635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52728" y="1673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82696" y="1691640"/>
            <a:ext cx="210678" cy="292608"/>
          </a:xfrm>
          <a:prstGeom prst="snip1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0618" y="1791127"/>
            <a:ext cx="134834" cy="175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3320618" y="1843796"/>
            <a:ext cx="134834" cy="175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Shape 15"/>
          <p:cNvSpPr/>
          <p:nvPr/>
        </p:nvSpPr>
        <p:spPr>
          <a:xfrm>
            <a:off x="3320618" y="1896466"/>
            <a:ext cx="84271" cy="175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30168" y="1673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-1500000">
            <a:off x="5596128" y="1710294"/>
            <a:ext cx="238110" cy="138257"/>
          </a:xfrm>
          <a:prstGeom prst="roundRect">
            <a:avLst>
              <a:gd name="adj" fmla="val 50000"/>
            </a:avLst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1500000">
            <a:off x="5703661" y="1802465"/>
            <a:ext cx="238110" cy="138257"/>
          </a:xfrm>
          <a:prstGeom prst="roundRect">
            <a:avLst>
              <a:gd name="adj" fmla="val 50000"/>
            </a:avLst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07608" y="1673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56596" y="1691640"/>
            <a:ext cx="181417" cy="181417"/>
          </a:xfrm>
          <a:prstGeom prst="ellipse">
            <a:avLst/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24409" y="1767835"/>
            <a:ext cx="245791" cy="160934"/>
          </a:xfrm>
          <a:prstGeom prst="roundRect">
            <a:avLst>
              <a:gd name="adj" fmla="val 10909"/>
            </a:avLst>
          </a:prstGeom>
          <a:solidFill>
            <a:srgbClr val="EA580C"/>
          </a:solidFill>
          <a:ln/>
        </p:spPr>
      </p:sp>
      <p:sp>
        <p:nvSpPr>
          <p:cNvPr id="24" name="Shape 22"/>
          <p:cNvSpPr/>
          <p:nvPr/>
        </p:nvSpPr>
        <p:spPr>
          <a:xfrm>
            <a:off x="8129748" y="1826357"/>
            <a:ext cx="35113" cy="351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85048" y="16733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Control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362102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Conversational Semantic 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Natural-language questions with cited, grounded answers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Memory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inside PDF/DOCX attachment contents — not just filenames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 Memory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URL in emails extracted, deduplicated, and searchable with context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Multi-Account Gmail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 several accounts; toggle active/inactive; background sync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Cards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answer carries evidence chips deep-linking to the original message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 History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Day-grouped sidebar (Today / Yesterday / 7 days / Older) with 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Usage Gating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quota per plan — Free 25 queries/day, Pro unlimited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Control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stats, connected accounts, indexed-data stats, full account deletion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live today. WhatsApp, Slack, and SMS seeded as “coming soon.”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40572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623944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07315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790687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874059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2416" y="237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743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05156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full-stack, vector-powered architecture.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37360"/>
            <a:ext cx="64008" cy="5669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1862084"/>
            <a:ext cx="351495" cy="283464"/>
          </a:xfrm>
          <a:prstGeom prst="cloud">
            <a:avLst/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21420" y="1792224"/>
            <a:ext cx="104274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 (Netlify)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21420" y="1993392"/>
            <a:ext cx="10427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TypeScript, Tailwind CSS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31720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CORS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94476" y="2313432"/>
            <a:ext cx="0" cy="21945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578608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78608"/>
            <a:ext cx="64008" cy="548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2721254"/>
            <a:ext cx="263347" cy="263347"/>
          </a:xfrm>
          <a:prstGeom prst="gear9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08253" y="2633472"/>
            <a:ext cx="104406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 3.11) on Render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08253" y="2816352"/>
            <a:ext cx="104406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94476" y="3127248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310128"/>
            <a:ext cx="2612898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401568"/>
            <a:ext cx="23934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2.0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730752"/>
            <a:ext cx="2393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httpOnly cookie auth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44418" y="3310128"/>
            <a:ext cx="2612898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54146" y="3401568"/>
            <a:ext cx="23934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API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454146" y="3730752"/>
            <a:ext cx="2393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Read-only, background sync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1636" y="3310128"/>
            <a:ext cx="2612898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41364" y="3401568"/>
            <a:ext cx="23934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→ Gemini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341364" y="3730752"/>
            <a:ext cx="2393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fallback chain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18854" y="3310128"/>
            <a:ext cx="2612898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28582" y="3401568"/>
            <a:ext cx="23934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Embeddings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228582" y="3730752"/>
            <a:ext cx="23934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1536-dim vectors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94476" y="4169664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57200" y="4352544"/>
            <a:ext cx="1127455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352544"/>
            <a:ext cx="64008" cy="5303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9" name="Shape 37"/>
          <p:cNvSpPr/>
          <p:nvPr/>
        </p:nvSpPr>
        <p:spPr>
          <a:xfrm>
            <a:off x="713232" y="4469221"/>
            <a:ext cx="222748" cy="296997"/>
          </a:xfrm>
          <a:prstGeom prst="can">
            <a:avLst/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95085" y="4407408"/>
            <a:ext cx="104537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PostgreSQL 16 + pgvector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95085" y="4572000"/>
            <a:ext cx="104537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cosine index, multi-tenant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5148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440680"/>
            <a:ext cx="1336853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7200" y="5440680"/>
            <a:ext cx="13368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Gmail sync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1958645" y="5440680"/>
            <a:ext cx="2130552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958645" y="544068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sync via BackgroundTasks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4253789" y="5440680"/>
            <a:ext cx="1847088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253789" y="54406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Portable, swappable embeddings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265469" y="5440680"/>
            <a:ext cx="2640787" cy="36576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265469" y="5440680"/>
            <a:ext cx="26407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scope; encrypted; tenant isolation</a:t>
            </a:r>
            <a:endParaRPr lang="en-US" sz="880" dirty="0"/>
          </a:p>
        </p:txBody>
      </p:sp>
      <p:sp>
        <p:nvSpPr>
          <p:cNvPr id="51" name="Text 49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40572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623944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07315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790687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874059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2416" y="237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743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05156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stack powering every answer.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74552" cy="386791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gemini-embedding-001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1536-dim vectors for emails, attachments, queries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Search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+ pgvector (HNSW)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Cosine-similarity retrieval, scoped per tenant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Similarity threshold (0.30)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Discards weak matches so the LLM never fabricates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LLM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OpenRouter → Gemini fallback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Grounded generation with mandatory citation markers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Rewriting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Temperature-0 LLM 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Rebuilds follow-ups into standalone search queries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Citation Mapping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Regex + JSONB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Converts [n] markers into clickable source cards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Small-Talk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 short-circuit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Handles greetings without spending LLM quota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Extraction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PyMuPDF + python-docx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Pulls text from PDF/DOCX attachments for indexing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5806440"/>
            <a:ext cx="82296" cy="594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580644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+ generation = answers you can trust, with a source for every sentence.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40572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623944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07315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790687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874059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2416" y="237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743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05156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forgettable to unforgettable.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26471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83080"/>
            <a:ext cx="2647188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Shape 11"/>
          <p:cNvSpPr/>
          <p:nvPr/>
        </p:nvSpPr>
        <p:spPr>
          <a:xfrm>
            <a:off x="1616202" y="1975104"/>
            <a:ext cx="329184" cy="329184"/>
          </a:xfrm>
          <a:prstGeom prst="ellipse">
            <a:avLst/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0794" y="2047524"/>
            <a:ext cx="0" cy="98755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0794" y="2139696"/>
            <a:ext cx="7242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377440"/>
            <a:ext cx="2464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852928"/>
            <a:ext cx="23728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answer a question that previously took minutes of scrolling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32988" y="1783080"/>
            <a:ext cx="26471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2988" y="1783080"/>
            <a:ext cx="2647188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Shape 18"/>
          <p:cNvSpPr/>
          <p:nvPr/>
        </p:nvSpPr>
        <p:spPr>
          <a:xfrm>
            <a:off x="4491990" y="1975104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 flipV="1">
            <a:off x="4570994" y="2146280"/>
            <a:ext cx="65837" cy="65837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4630247" y="2073859"/>
            <a:ext cx="111923" cy="138257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4428" y="2377440"/>
            <a:ext cx="2464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3470148" y="2852928"/>
            <a:ext cx="23728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answers source-cited and deep-linked for verification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08776" y="1783080"/>
            <a:ext cx="26471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08776" y="1783080"/>
            <a:ext cx="2647188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Shape 25"/>
          <p:cNvSpPr/>
          <p:nvPr/>
        </p:nvSpPr>
        <p:spPr>
          <a:xfrm>
            <a:off x="7367778" y="1975104"/>
            <a:ext cx="329184" cy="329184"/>
          </a:xfrm>
          <a:prstGeom prst="noSmoking">
            <a:avLst/>
          </a:prstGeom>
          <a:ln w="28575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0216" y="2377440"/>
            <a:ext cx="2464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6345936" y="2852928"/>
            <a:ext cx="23728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fabricated references — weak matches are honestly declined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84564" y="1783080"/>
            <a:ext cx="264718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084564" y="1783080"/>
            <a:ext cx="2647188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06111" y="1975104"/>
            <a:ext cx="204094" cy="204094"/>
          </a:xfrm>
          <a:prstGeom prst="ellipse">
            <a:avLst/>
          </a:prstGeom>
          <a:ln w="28575">
            <a:solidFill>
              <a:srgbClr val="EA580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69901" y="2060824"/>
            <a:ext cx="276515" cy="181051"/>
          </a:xfrm>
          <a:prstGeom prst="roundRect">
            <a:avLst>
              <a:gd name="adj" fmla="val 10909"/>
            </a:avLst>
          </a:prstGeom>
          <a:solidFill>
            <a:srgbClr val="EA580C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88407" y="2126660"/>
            <a:ext cx="39502" cy="3950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76004" y="2377440"/>
            <a:ext cx="2464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9221724" y="2852928"/>
            <a:ext cx="23728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scope; no passwords stored; data deletable anytime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3232" y="3767328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response carries proof — click the source card to open the original email.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370832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3232" y="4251960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 posture: 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access, no training on user data, full control over indexed memory.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855464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13232" y="4736592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complexity: 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AI search delivered through a familiar chat interface.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534009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3232" y="5221224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Extensible foundation: 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provider registry ready for WhatsApp, Slack, SMS, and calendar.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5824728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13232" y="5705856"/>
            <a:ext cx="11000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model: 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(25 queries/day) removes friction; Pro ($9.99/mo) for power users.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40572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623944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07315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790687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874059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2416" y="237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743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05156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Recall AI in action.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3575304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865376"/>
            <a:ext cx="310896" cy="223845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865376"/>
            <a:ext cx="155448" cy="138784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777240" y="1865376"/>
            <a:ext cx="155448" cy="138784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1691640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Connect: </a:t>
            </a:r>
            <a:r>
              <a:rPr lang="en-US" sz="10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with Google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4050792" y="169164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06824" y="1691640"/>
            <a:ext cx="3575304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1865376"/>
            <a:ext cx="347472" cy="292608"/>
          </a:xfrm>
          <a:prstGeom prst="wedgeRoundRectCallou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01184" y="1691640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</a:t>
            </a:r>
            <a:r>
              <a:rPr lang="en-US" sz="10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plain-language question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7900416" y="1691640"/>
            <a:ext cx="237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56448" y="1691640"/>
            <a:ext cx="3575304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865376"/>
            <a:ext cx="310896" cy="31089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3" name="Shape 21"/>
          <p:cNvSpPr/>
          <p:nvPr/>
        </p:nvSpPr>
        <p:spPr>
          <a:xfrm flipV="1">
            <a:off x="8395655" y="2027042"/>
            <a:ext cx="62179" cy="62179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8451616" y="1958645"/>
            <a:ext cx="105705" cy="130576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50808" y="1691640"/>
            <a:ext cx="2798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</a:t>
            </a:r>
            <a:r>
              <a:rPr lang="en-US" sz="10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Cited, source-linked response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94560" y="2514600"/>
            <a:ext cx="77998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194560" y="2514600"/>
            <a:ext cx="7799832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4560" y="2670048"/>
            <a:ext cx="7799832" cy="1554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2322576" y="262432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2505456" y="2624328"/>
            <a:ext cx="91440" cy="914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8336" y="262432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Shape 30"/>
          <p:cNvSpPr/>
          <p:nvPr/>
        </p:nvSpPr>
        <p:spPr>
          <a:xfrm>
            <a:off x="8577072" y="2620158"/>
            <a:ext cx="22591" cy="52231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3" name="Shape 31"/>
          <p:cNvSpPr/>
          <p:nvPr/>
        </p:nvSpPr>
        <p:spPr>
          <a:xfrm>
            <a:off x="8612088" y="2603260"/>
            <a:ext cx="22591" cy="86027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4" name="Shape 32"/>
          <p:cNvSpPr/>
          <p:nvPr/>
        </p:nvSpPr>
        <p:spPr>
          <a:xfrm>
            <a:off x="8647104" y="2584826"/>
            <a:ext cx="22591" cy="12289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5" name="Shape 33"/>
          <p:cNvSpPr/>
          <p:nvPr/>
        </p:nvSpPr>
        <p:spPr>
          <a:xfrm>
            <a:off x="8682120" y="2584826"/>
            <a:ext cx="22591" cy="12289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6" name="Shape 34"/>
          <p:cNvSpPr/>
          <p:nvPr/>
        </p:nvSpPr>
        <p:spPr>
          <a:xfrm>
            <a:off x="8717137" y="2603260"/>
            <a:ext cx="22591" cy="86027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7" name="Shape 35"/>
          <p:cNvSpPr/>
          <p:nvPr/>
        </p:nvSpPr>
        <p:spPr>
          <a:xfrm>
            <a:off x="8752153" y="2620158"/>
            <a:ext cx="22591" cy="52231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897112" y="2514600"/>
            <a:ext cx="23774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5241889" y="2953512"/>
            <a:ext cx="4523903" cy="457200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379049" y="2953512"/>
            <a:ext cx="4249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the link they sent for that meeting?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23160" y="3575304"/>
            <a:ext cx="6707856" cy="704088"/>
          </a:xfrm>
          <a:prstGeom prst="roundRect">
            <a:avLst>
              <a:gd name="adj" fmla="val 15584"/>
            </a:avLst>
          </a:prstGeom>
          <a:solidFill>
            <a:srgbClr val="FDEEE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78608" y="3685032"/>
            <a:ext cx="6067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the Zoom link for the design review is in the Sept 9 email from Amara.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578608" y="3895344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578608" y="38953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Gmail • Sept 9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57200" y="5029200"/>
            <a:ext cx="35753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" y="5193792"/>
            <a:ext cx="384048" cy="384048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48" name="Shape 46"/>
          <p:cNvSpPr/>
          <p:nvPr/>
        </p:nvSpPr>
        <p:spPr>
          <a:xfrm rot="5400000">
            <a:off x="778337" y="5301325"/>
            <a:ext cx="122895" cy="168981"/>
          </a:xfrm>
          <a:prstGeom prst="triangle">
            <a:avLst/>
          </a:prstGeom>
          <a:solidFill>
            <a:srgbClr val="EA580C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1170432" y="517550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demo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170432" y="543153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walkthrough</a:t>
            </a:r>
            <a:endParaRPr lang="en-US" sz="950" dirty="0"/>
          </a:p>
        </p:txBody>
      </p:sp>
      <p:sp>
        <p:nvSpPr>
          <p:cNvPr id="51" name="Text 49">
            <a:hlinkClick r:id="rId3"/>
          </p:cNvPr>
          <p:cNvSpPr txBox="1"/>
          <p:nvPr/>
        </p:nvSpPr>
        <p:spPr>
          <a:xfrm>
            <a:off x="640080" y="595274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u="sng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https://youtu.be/Gik-x_AFM3w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306824" y="5029200"/>
            <a:ext cx="35753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489704" y="5193792"/>
            <a:ext cx="384048" cy="384048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54" name="Shape 52"/>
          <p:cNvSpPr/>
          <p:nvPr/>
        </p:nvSpPr>
        <p:spPr>
          <a:xfrm rot="10800000">
            <a:off x="4551152" y="5324368"/>
            <a:ext cx="115214" cy="122895"/>
          </a:xfrm>
          <a:prstGeom prst="chevron">
            <a:avLst/>
          </a:prstGeom>
          <a:solidFill>
            <a:srgbClr val="EA580C"/>
          </a:solidFill>
          <a:ln/>
        </p:spPr>
      </p:sp>
      <p:sp>
        <p:nvSpPr>
          <p:cNvPr id="55" name="Shape 53"/>
          <p:cNvSpPr/>
          <p:nvPr/>
        </p:nvSpPr>
        <p:spPr>
          <a:xfrm>
            <a:off x="4697090" y="5324368"/>
            <a:ext cx="115214" cy="122895"/>
          </a:xfrm>
          <a:prstGeom prst="chevron">
            <a:avLst/>
          </a:prstGeom>
          <a:solidFill>
            <a:srgbClr val="EA580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020056" y="517550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the source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5020056" y="543153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950" dirty="0"/>
          </a:p>
        </p:txBody>
      </p:sp>
      <p:sp>
        <p:nvSpPr>
          <p:cNvPr id="58" name="Text 56">
            <a:hlinkClick r:id="rId4"/>
          </p:cNvPr>
          <p:cNvSpPr txBox="1"/>
          <p:nvPr/>
        </p:nvSpPr>
        <p:spPr>
          <a:xfrm>
            <a:off x="4489704" y="595274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u="sng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https://github.com/Enow-brenda/recall-ai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56448" y="5029200"/>
            <a:ext cx="35753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339328" y="5193792"/>
            <a:ext cx="384048" cy="384048"/>
          </a:xfrm>
          <a:prstGeom prst="ellipse">
            <a:avLst/>
          </a:prstGeom>
          <a:solidFill>
            <a:srgbClr val="FDEEE7"/>
          </a:solidFill>
          <a:ln/>
        </p:spPr>
      </p:sp>
      <p:sp>
        <p:nvSpPr>
          <p:cNvPr id="61" name="Shape 59"/>
          <p:cNvSpPr/>
          <p:nvPr/>
        </p:nvSpPr>
        <p:spPr>
          <a:xfrm>
            <a:off x="8439912" y="5294376"/>
            <a:ext cx="211226" cy="152083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EA580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39912" y="5294376"/>
            <a:ext cx="105613" cy="94291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8545525" y="5294376"/>
            <a:ext cx="105613" cy="94291"/>
          </a:xfrm>
          <a:prstGeom prst="line">
            <a:avLst/>
          </a:prstGeom>
          <a:noFill/>
          <a:ln w="22225">
            <a:solidFill>
              <a:srgbClr val="EA580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869680" y="5175504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live access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8869680" y="5431536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to be added as a Google test user</a:t>
            </a:r>
            <a:endParaRPr lang="en-US" sz="950" dirty="0"/>
          </a:p>
        </p:txBody>
      </p:sp>
      <p:sp>
        <p:nvSpPr>
          <p:cNvPr id="66" name="Text 64">
            <a:hlinkClick r:id="rId5"/>
          </p:cNvPr>
          <p:cNvSpPr txBox="1"/>
          <p:nvPr/>
        </p:nvSpPr>
        <p:spPr>
          <a:xfrm>
            <a:off x="8339328" y="5952744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u="sng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enowbrenda91106@gmail.com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8E3A3C-5621-8CEB-8D9E-499E93EBD69C}"/>
              </a:ext>
            </a:extLst>
          </p:cNvPr>
          <p:cNvSpPr txBox="1"/>
          <p:nvPr/>
        </p:nvSpPr>
        <p:spPr>
          <a:xfrm>
            <a:off x="5794408" y="4831882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M" baseline="-25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540572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623944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707315" y="329184"/>
            <a:ext cx="53788" cy="29260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6" name="Shape 4"/>
          <p:cNvSpPr/>
          <p:nvPr/>
        </p:nvSpPr>
        <p:spPr>
          <a:xfrm>
            <a:off x="790687" y="373075"/>
            <a:ext cx="53788" cy="20482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874059" y="413309"/>
            <a:ext cx="53788" cy="12435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2416" y="2377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115568"/>
            <a:ext cx="2743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1051560"/>
            <a:ext cx="10863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Recall is headed.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37360"/>
            <a:ext cx="3575304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17373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term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33172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Gmail, semantic search, document/link memory</a:t>
            </a:r>
            <a:endParaRPr lang="en-US" sz="103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06324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hosting on Render / self-hosted</a:t>
            </a:r>
            <a:endParaRPr lang="en-US" sz="103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79476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providers: WhatsApp, SMS, Slack (seeded)</a:t>
            </a:r>
            <a:endParaRPr lang="en-US" sz="103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526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52628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Google OAuth verification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306824" y="1737360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06824" y="1737360"/>
            <a:ext cx="3575304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9704" y="17373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next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489704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64024" y="233172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Event/calendar extraction from emails</a:t>
            </a:r>
            <a:endParaRPr lang="en-US" sz="1030" dirty="0"/>
          </a:p>
        </p:txBody>
      </p:sp>
      <p:sp>
        <p:nvSpPr>
          <p:cNvPr id="27" name="Text 25"/>
          <p:cNvSpPr txBox="1"/>
          <p:nvPr/>
        </p:nvSpPr>
        <p:spPr>
          <a:xfrm>
            <a:off x="4489704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64024" y="306324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&amp; thread summarization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4489704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764024" y="379476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 versioning heuristic (v1/v2/final)</a:t>
            </a:r>
            <a:endParaRPr lang="en-US" sz="1030" dirty="0"/>
          </a:p>
        </p:txBody>
      </p:sp>
      <p:sp>
        <p:nvSpPr>
          <p:cNvPr id="31" name="Text 29"/>
          <p:cNvSpPr txBox="1"/>
          <p:nvPr/>
        </p:nvSpPr>
        <p:spPr>
          <a:xfrm>
            <a:off x="4489704" y="4526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764024" y="452628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Chat-history search across conversations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8156448" y="1737360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F172A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56448" y="1737360"/>
            <a:ext cx="3575304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339328" y="1737360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— long term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339328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613648" y="233172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recommendations across silos</a:t>
            </a:r>
            <a:endParaRPr lang="en-US" sz="1030" dirty="0"/>
          </a:p>
        </p:txBody>
      </p:sp>
      <p:sp>
        <p:nvSpPr>
          <p:cNvPr id="38" name="Text 36"/>
          <p:cNvSpPr txBox="1"/>
          <p:nvPr/>
        </p:nvSpPr>
        <p:spPr>
          <a:xfrm>
            <a:off x="8339328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613648" y="306324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proactive assistant that surfaces what matters</a:t>
            </a:r>
            <a:endParaRPr lang="en-US" sz="1030" dirty="0"/>
          </a:p>
        </p:txBody>
      </p:sp>
      <p:sp>
        <p:nvSpPr>
          <p:cNvPr id="40" name="Text 38"/>
          <p:cNvSpPr txBox="1"/>
          <p:nvPr/>
        </p:nvSpPr>
        <p:spPr>
          <a:xfrm>
            <a:off x="8339328" y="3794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613648" y="379476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personalized memory layer across every channel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457200" y="553212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0" y="55321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inbox remembers. You don't have to.</a:t>
            </a: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1115</Words>
  <Application>Microsoft Office PowerPoint</Application>
  <PresentationFormat>Widescreen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ENOW BRENDA</cp:lastModifiedBy>
  <cp:revision>2</cp:revision>
  <dcterms:created xsi:type="dcterms:W3CDTF">2026-09-15T09:09:01Z</dcterms:created>
  <dcterms:modified xsi:type="dcterms:W3CDTF">2026-09-15T23:11:09Z</dcterms:modified>
</cp:coreProperties>
</file>